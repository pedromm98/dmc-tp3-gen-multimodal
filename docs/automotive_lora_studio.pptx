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1036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637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PedroMM98/dmc-tp3-gen-multimodal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9377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APLICACIONES GENERATIVAS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Marketing Content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Studio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217627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generativo multimodal para producir campañas automotrices: estrategia comercial con LLM fine-tuned y assets visuales con SDXL + DreamBooth LoRA.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999232"/>
            <a:ext cx="669341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99232"/>
            <a:ext cx="66934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6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254557" y="2999232"/>
            <a:ext cx="1119226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4557" y="2999232"/>
            <a:ext cx="111922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6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56078" y="2999232"/>
            <a:ext cx="1719072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6078" y="2999232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6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 + LoRA/QLoRA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3310128"/>
            <a:ext cx="894283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10128"/>
            <a:ext cx="89428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6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79499" y="3310128"/>
            <a:ext cx="5486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79499" y="331012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6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SDXL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46904" y="1037201"/>
            <a:ext cx="3694176" cy="261189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4814316"/>
            <a:ext cx="8138160" cy="9144"/>
          </a:xfrm>
          <a:prstGeom prst="rect">
            <a:avLst/>
          </a:prstGeom>
          <a:solidFill>
            <a:srgbClr val="C0C8D0"/>
          </a:solidFill>
          <a:ln w="12700">
            <a:solidFill>
              <a:srgbClr val="C0C8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C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Marketing Content LoRA Studio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0924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C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800" dirty="0"/>
          </a:p>
        </p:txBody>
      </p:sp>
      <p:pic>
        <p:nvPicPr>
          <p:cNvPr id="21" name="Picture 2" descr="BMW Vision Neue Klasse campaign visual">
            <a:extLst>
              <a:ext uri="{FF2B5EF4-FFF2-40B4-BE49-F238E27FC236}">
                <a16:creationId xmlns:a16="http://schemas.microsoft.com/office/drawing/2014/main" id="{EAEC9778-CF9B-4509-8814-78EDE6220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931" y="1015524"/>
            <a:ext cx="3762149" cy="2659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 2">
            <a:extLst>
              <a:ext uri="{FF2B5EF4-FFF2-40B4-BE49-F238E27FC236}">
                <a16:creationId xmlns:a16="http://schemas.microsoft.com/office/drawing/2014/main" id="{B1D678A6-C39D-4370-8BBF-FC16F56BF3F8}"/>
              </a:ext>
            </a:extLst>
          </p:cNvPr>
          <p:cNvSpPr/>
          <p:nvPr/>
        </p:nvSpPr>
        <p:spPr>
          <a:xfrm>
            <a:off x="502920" y="3914312"/>
            <a:ext cx="5186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2D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r>
              <a:rPr lang="en-US" sz="1300" b="1" dirty="0">
                <a:solidFill>
                  <a:srgbClr val="2D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b="1" i="1" dirty="0">
                <a:solidFill>
                  <a:srgbClr val="2D394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https://github.com/PedroMM98/dmc-tp3-gen-multimodal</a:t>
            </a:r>
            <a:r>
              <a:rPr lang="en-US" sz="1300" b="1" i="1" dirty="0">
                <a:solidFill>
                  <a:srgbClr val="2D3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b="1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9377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campañas automotrices consistentes sigue siendo lento y fragmentado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2887734" cy="2743200"/>
          </a:xfrm>
          <a:prstGeom prst="rect">
            <a:avLst/>
          </a:prstGeom>
          <a:solidFill>
            <a:srgbClr val="FFE7E4"/>
          </a:solidFill>
          <a:ln w="9525">
            <a:solidFill>
              <a:srgbClr val="FFB7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73936"/>
            <a:ext cx="26134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85800" y="2624328"/>
            <a:ext cx="2613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desconectados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962656"/>
            <a:ext cx="26134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Ventas, marketing y diseño suelen trabajar con briefs, copies y referencias visuales en ciclos separados.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55246" y="1572768"/>
            <a:ext cx="2460621" cy="2743200"/>
          </a:xfrm>
          <a:prstGeom prst="rect">
            <a:avLst/>
          </a:prstGeom>
          <a:solidFill>
            <a:srgbClr val="FFF3D6"/>
          </a:solidFill>
          <a:ln w="9525">
            <a:solidFill>
              <a:srgbClr val="EFD1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8126" y="1773936"/>
            <a:ext cx="218630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738126" y="2624328"/>
            <a:ext cx="2186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por canal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38126" y="2962656"/>
            <a:ext cx="218630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Website, Instagram, TikTok, email, showroom y billboard requieren formatos, composiciones y mensajes distintos.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80459" y="1572768"/>
            <a:ext cx="2460621" cy="2743200"/>
          </a:xfrm>
          <a:prstGeom prst="rect">
            <a:avLst/>
          </a:prstGeom>
          <a:solidFill>
            <a:srgbClr val="E8F0FF"/>
          </a:solidFill>
          <a:ln w="9525">
            <a:solidFill>
              <a:srgbClr val="BED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3339" y="1773936"/>
            <a:ext cx="218630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363339" y="2624328"/>
            <a:ext cx="2186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visual frágil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3339" y="2962656"/>
            <a:ext cx="218630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base pueden generar autos genéricos, deformaciones o piezas poco alineadas al modelo real.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814316"/>
            <a:ext cx="8138160" cy="9144"/>
          </a:xfrm>
          <a:prstGeom prst="rect">
            <a:avLst/>
          </a:prstGeom>
          <a:solidFill>
            <a:srgbClr val="C0C8D0"/>
          </a:solidFill>
          <a:ln w="12700">
            <a:solidFill>
              <a:srgbClr val="C0C8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C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 resolver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0924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C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9377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combina impacto comercial con requisitos técnicos del curso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39776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7335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el negocio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956816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tiempo de preparación de propuestas y conceptos visuales.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variantes por target, canal, promoción y etapa del funnel.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Acelerar pruebas A/B antes de una sesión formal de diseño.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536192"/>
            <a:ext cx="39776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67335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técnico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956816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eficiente de LLM con Unsloth y LoRA/QLoRA.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imágenes integrada con Diffusers.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base vs fine-tuned con métricas y ejemplos.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044952"/>
            <a:ext cx="3977640" cy="1325880"/>
          </a:xfrm>
          <a:prstGeom prst="rect">
            <a:avLst/>
          </a:prstGeom>
          <a:solidFill>
            <a:srgbClr val="DFF4F1"/>
          </a:solidFill>
          <a:ln w="9525">
            <a:solidFill>
              <a:srgbClr val="A7D9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17296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85800" y="3666744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SFT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91363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JSON de propuestas comerciales automotrices para especializar el LLM.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3044952"/>
            <a:ext cx="3977640" cy="1325880"/>
          </a:xfrm>
          <a:prstGeom prst="rect">
            <a:avLst/>
          </a:prstGeom>
          <a:solidFill>
            <a:srgbClr val="E8F7ED"/>
          </a:solidFill>
          <a:ln w="9525">
            <a:solidFill>
              <a:srgbClr val="B6E1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17296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20-40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46320" y="3666744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recomendadas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91363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visual con captions en inglés para entrenar la identidad del auto.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814316"/>
            <a:ext cx="8138160" cy="9144"/>
          </a:xfrm>
          <a:prstGeom prst="rect">
            <a:avLst/>
          </a:prstGeom>
          <a:solidFill>
            <a:srgbClr val="C0C8D0"/>
          </a:solidFill>
          <a:ln w="12700">
            <a:solidFill>
              <a:srgbClr val="C0C8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C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Descripcion y justificacion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0924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C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9377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PROPUESTA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de texto a estrategia y de estrategia a assets visuales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1525219" cy="2724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755648"/>
            <a:ext cx="292608" cy="292608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176272"/>
            <a:ext cx="12691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" y="2505456"/>
            <a:ext cx="1269187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Marca, modelo, target, objetivo, ciudad, promoción y tono de campaña.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28139" y="2926080"/>
            <a:ext cx="128016" cy="18288"/>
          </a:xfrm>
          <a:prstGeom prst="rect">
            <a:avLst/>
          </a:prstGeom>
          <a:solidFill>
            <a:srgbClr val="7B8794"/>
          </a:solidFill>
          <a:ln w="12700">
            <a:solidFill>
              <a:srgbClr val="7B879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56155" y="1572768"/>
            <a:ext cx="1525219" cy="2724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20747" y="1755648"/>
            <a:ext cx="292608" cy="292608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20747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02459" y="2176272"/>
            <a:ext cx="12691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fine-tuned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02459" y="2505456"/>
            <a:ext cx="1269187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estrategia, canal, copy, KPIs, image prompt y negative prompt.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81374" y="2926080"/>
            <a:ext cx="128016" cy="18288"/>
          </a:xfrm>
          <a:prstGeom prst="rect">
            <a:avLst/>
          </a:prstGeom>
          <a:solidFill>
            <a:srgbClr val="7B8794"/>
          </a:solidFill>
          <a:ln w="12700">
            <a:solidFill>
              <a:srgbClr val="7B879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09390" y="1572768"/>
            <a:ext cx="1525219" cy="2724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73982" y="1755648"/>
            <a:ext cx="292608" cy="292608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3982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55694" y="2176272"/>
            <a:ext cx="12691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builder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55694" y="2505456"/>
            <a:ext cx="1269187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 el prompt por placement: web, social, print, showroom y billboard.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34610" y="2926080"/>
            <a:ext cx="128016" cy="18288"/>
          </a:xfrm>
          <a:prstGeom prst="rect">
            <a:avLst/>
          </a:prstGeom>
          <a:solidFill>
            <a:srgbClr val="7B8794"/>
          </a:solidFill>
          <a:ln w="12700">
            <a:solidFill>
              <a:srgbClr val="7B879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62626" y="1572768"/>
            <a:ext cx="1525219" cy="2724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27218" y="1755648"/>
            <a:ext cx="292608" cy="292608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7218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08930" y="2176272"/>
            <a:ext cx="12691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SDXL + LoRA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08930" y="2505456"/>
            <a:ext cx="1269187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DreamBooth LoRA para conservar identidad visual del auto.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87845" y="2926080"/>
            <a:ext cx="128016" cy="18288"/>
          </a:xfrm>
          <a:prstGeom prst="rect">
            <a:avLst/>
          </a:prstGeom>
          <a:solidFill>
            <a:srgbClr val="7B8794"/>
          </a:solidFill>
          <a:ln w="12700">
            <a:solidFill>
              <a:srgbClr val="7B879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15861" y="1572768"/>
            <a:ext cx="1525219" cy="2724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80453" y="1755648"/>
            <a:ext cx="292608" cy="292608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80453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62165" y="2176272"/>
            <a:ext cx="12691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62165" y="2505456"/>
            <a:ext cx="1269187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PNG, metadata, seeds, dimensiones, latencia y notas de evaluación.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4814316"/>
            <a:ext cx="8138160" cy="9144"/>
          </a:xfrm>
          <a:prstGeom prst="rect">
            <a:avLst/>
          </a:prstGeom>
          <a:solidFill>
            <a:srgbClr val="C0C8D0"/>
          </a:solidFill>
          <a:ln w="12700">
            <a:solidFill>
              <a:srgbClr val="C0C8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C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solucion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924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C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9377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contratos de entrada: uno textual y uno visual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3968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fine-tuning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810512"/>
            <a:ext cx="3968496" cy="2596896"/>
          </a:xfrm>
          <a:prstGeom prst="rect">
            <a:avLst/>
          </a:prstGeom>
          <a:solidFill>
            <a:srgbClr val="111827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956816"/>
            <a:ext cx="36941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data/commercial_campaign_sft/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commercial_campaign_sft.json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"instruction": "...",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"input": "Goal | Vehicle | ROI ...",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"output":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"strategy": "...",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"channel_plan": "...",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"ad_copy": "...",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"image_prompt": "...",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"negative_prompt": "...",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"kpis": [...],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"business_note": "..."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672584" y="1554480"/>
            <a:ext cx="3968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fine-tuning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72584" y="1810512"/>
            <a:ext cx="3968496" cy="2596896"/>
          </a:xfrm>
          <a:prstGeom prst="rect">
            <a:avLst/>
          </a:prstGeom>
          <a:solidFill>
            <a:srgbClr val="111827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37176" y="1956816"/>
            <a:ext cx="36941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data/car_campaign_lora/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metadata.csv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images/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file_path,caption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./images/car_01.png,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"REALCARMODEL real car model,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three quarter view,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premium automotive photography"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 word: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REALCARMODEL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4814316"/>
            <a:ext cx="8138160" cy="9144"/>
          </a:xfrm>
          <a:prstGeom prst="rect">
            <a:avLst/>
          </a:prstGeom>
          <a:solidFill>
            <a:srgbClr val="C0C8D0"/>
          </a:solidFill>
          <a:ln w="12700">
            <a:solidFill>
              <a:srgbClr val="C0C8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C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minimo 200 ejemplos · CSV visual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0924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C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9377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adapters especializados se integran en una demo end-to-end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39776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709928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textual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9224" y="2011680"/>
            <a:ext cx="3721608" cy="292608"/>
          </a:xfrm>
          <a:prstGeom prst="rect">
            <a:avLst/>
          </a:prstGeom>
          <a:solidFill>
            <a:srgbClr val="F9FAFB"/>
          </a:solidFill>
          <a:ln w="9525">
            <a:solidFill>
              <a:srgbClr val="C6CF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011680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commercial_campaign_sft.json · 200+ ejemplos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9224" y="2377440"/>
            <a:ext cx="3721608" cy="292608"/>
          </a:xfrm>
          <a:prstGeom prst="rect">
            <a:avLst/>
          </a:prstGeom>
          <a:solidFill>
            <a:srgbClr val="F9FAFB"/>
          </a:solidFill>
          <a:ln w="9525">
            <a:solidFill>
              <a:srgbClr val="C6CF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377440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Preparacion SFT · train/eval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9224" y="2743200"/>
            <a:ext cx="3721608" cy="292608"/>
          </a:xfrm>
          <a:prstGeom prst="rect">
            <a:avLst/>
          </a:prstGeom>
          <a:solidFill>
            <a:srgbClr val="E8F0FF"/>
          </a:solidFill>
          <a:ln w="9525">
            <a:solidFill>
              <a:srgbClr val="BED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743200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4B + Unsloth + LoRA/QLoRA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9224" y="3108960"/>
            <a:ext cx="3721608" cy="292608"/>
          </a:xfrm>
          <a:prstGeom prst="rect">
            <a:avLst/>
          </a:prstGeom>
          <a:solidFill>
            <a:srgbClr val="E8F7ED"/>
          </a:solidFill>
          <a:ln w="9525">
            <a:solidFill>
              <a:srgbClr val="B6E1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3108960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comercial · outputs/commercial-qwen-lora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9224" y="3474720"/>
            <a:ext cx="3721608" cy="292608"/>
          </a:xfrm>
          <a:prstGeom prst="rect">
            <a:avLst/>
          </a:prstGeom>
          <a:solidFill>
            <a:srgbClr val="E8F7ED"/>
          </a:solidFill>
          <a:ln w="9525">
            <a:solidFill>
              <a:srgbClr val="B6E1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474720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estrategia, canal, copy, KPIs, prompts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1572768"/>
            <a:ext cx="39776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1709928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visual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9744" y="2011680"/>
            <a:ext cx="3721608" cy="292608"/>
          </a:xfrm>
          <a:prstGeom prst="rect">
            <a:avLst/>
          </a:prstGeom>
          <a:solidFill>
            <a:srgbClr val="F9FAFB"/>
          </a:solidFill>
          <a:ln w="9525">
            <a:solidFill>
              <a:srgbClr val="C6CF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011680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metadata.csv + imagenes del auto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09744" y="2377440"/>
            <a:ext cx="3721608" cy="292608"/>
          </a:xfrm>
          <a:prstGeom prst="rect">
            <a:avLst/>
          </a:prstGeom>
          <a:solidFill>
            <a:srgbClr val="F9FAFB"/>
          </a:solidFill>
          <a:ln w="9525">
            <a:solidFill>
              <a:srgbClr val="C6CF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377440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 de captions y trigger word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09744" y="2743200"/>
            <a:ext cx="3721608" cy="292608"/>
          </a:xfrm>
          <a:prstGeom prst="rect">
            <a:avLst/>
          </a:prstGeom>
          <a:solidFill>
            <a:srgbClr val="E8F0FF"/>
          </a:solidFill>
          <a:ln w="9525">
            <a:solidFill>
              <a:srgbClr val="BED1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2743200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SDXL + DreamBooth LoRA via Diffusers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09744" y="3108960"/>
            <a:ext cx="3721608" cy="292608"/>
          </a:xfrm>
          <a:prstGeom prst="rect">
            <a:avLst/>
          </a:prstGeom>
          <a:solidFill>
            <a:srgbClr val="E8F7ED"/>
          </a:solidFill>
          <a:ln w="9525">
            <a:solidFill>
              <a:srgbClr val="B6E1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3108960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visual · outputs/automotive-lora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09744" y="3474720"/>
            <a:ext cx="3721608" cy="292608"/>
          </a:xfrm>
          <a:prstGeom prst="rect">
            <a:avLst/>
          </a:prstGeom>
          <a:solidFill>
            <a:srgbClr val="E8F7ED"/>
          </a:solidFill>
          <a:ln w="9525">
            <a:solidFill>
              <a:srgbClr val="B6E1C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474720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por placement · outputs/generated_assets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4032504"/>
            <a:ext cx="8138160" cy="329184"/>
          </a:xfrm>
          <a:prstGeom prst="rect">
            <a:avLst/>
          </a:prstGeom>
          <a:solidFill>
            <a:srgbClr val="DFF4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032504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 campaña + LLM fine-tuned + Prompt builder + SDXL LoRA visual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4814316"/>
            <a:ext cx="8138160" cy="9144"/>
          </a:xfrm>
          <a:prstGeom prst="rect">
            <a:avLst/>
          </a:prstGeom>
          <a:solidFill>
            <a:srgbClr val="C0C8D0"/>
          </a:solidFill>
          <a:ln w="12700">
            <a:solidFill>
              <a:srgbClr val="C0C8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C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arquitectura del sistema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0924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C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9377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 alineado a los requisitos del proyecto final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2355783" cy="525018"/>
          </a:xfrm>
          <a:prstGeom prst="rect">
            <a:avLst/>
          </a:prstGeom>
          <a:solidFill>
            <a:srgbClr val="EEF2F7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572768"/>
            <a:ext cx="2191191" cy="47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858703" y="1536192"/>
            <a:ext cx="3212432" cy="525018"/>
          </a:xfrm>
          <a:prstGeom prst="rect">
            <a:avLst/>
          </a:prstGeom>
          <a:solidFill>
            <a:srgbClr val="EEF2F7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68431" y="1572768"/>
            <a:ext cx="3047840" cy="47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071135" y="1536192"/>
            <a:ext cx="2569945" cy="525018"/>
          </a:xfrm>
          <a:prstGeom prst="rect">
            <a:avLst/>
          </a:prstGeom>
          <a:solidFill>
            <a:srgbClr val="EEF2F7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80863" y="1572768"/>
            <a:ext cx="2405353" cy="47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061210"/>
            <a:ext cx="2355783" cy="52501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097786"/>
            <a:ext cx="2191191" cy="47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58703" y="2061210"/>
            <a:ext cx="3212432" cy="52501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8431" y="2097786"/>
            <a:ext cx="3047840" cy="47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Colab/Kaggle secuencial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1135" y="2061210"/>
            <a:ext cx="2569945" cy="52501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0863" y="2097786"/>
            <a:ext cx="2405353" cy="47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notebooks/proyecto_final_automotive_lora_marketing_full_colab_kaggle.ipynb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586228"/>
            <a:ext cx="2355783" cy="52501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622804"/>
            <a:ext cx="2191191" cy="47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58703" y="2586228"/>
            <a:ext cx="3212432" cy="52501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68431" y="2622804"/>
            <a:ext cx="3047840" cy="47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 inferencia del LLM instructivo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71135" y="2586228"/>
            <a:ext cx="2569945" cy="52501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0863" y="2622804"/>
            <a:ext cx="2405353" cy="47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4B base vs adapter fine-tuned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111246"/>
            <a:ext cx="2355783" cy="52501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3147822"/>
            <a:ext cx="2191191" cy="47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 + LoRA/QLoRA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858703" y="3111246"/>
            <a:ext cx="3212432" cy="52501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68431" y="3147822"/>
            <a:ext cx="3047840" cy="47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eficiente del LLM en 4-bit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71135" y="3111246"/>
            <a:ext cx="2569945" cy="52501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0863" y="3147822"/>
            <a:ext cx="2405353" cy="47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outputs/commercial-qwen-lora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3636264"/>
            <a:ext cx="2355783" cy="52501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3672840"/>
            <a:ext cx="2191191" cy="47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58703" y="3636264"/>
            <a:ext cx="3212432" cy="52501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68431" y="3672840"/>
            <a:ext cx="3047840" cy="47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SDXL + DreamBooth LoRA visual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71135" y="3636264"/>
            <a:ext cx="2569945" cy="52501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80863" y="3672840"/>
            <a:ext cx="2405353" cy="47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outputs/automotive-lora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4161282"/>
            <a:ext cx="2355783" cy="52501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4197858"/>
            <a:ext cx="2191191" cy="47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858703" y="4161282"/>
            <a:ext cx="3212432" cy="52501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68431" y="4197858"/>
            <a:ext cx="3047840" cy="47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validity, cobertura de campos, Jaccard, latencia, comparacion visual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71135" y="4161282"/>
            <a:ext cx="2569945" cy="525018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80863" y="4197858"/>
            <a:ext cx="2405353" cy="47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outputs/evaluation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4814316"/>
            <a:ext cx="8138160" cy="9144"/>
          </a:xfrm>
          <a:prstGeom prst="rect">
            <a:avLst/>
          </a:prstGeom>
          <a:solidFill>
            <a:srgbClr val="C0C8D0"/>
          </a:solidFill>
          <a:ln w="12700">
            <a:solidFill>
              <a:srgbClr val="C0C8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C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tecnologias utilizadas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924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C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9377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FUNCIONAL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ejecución termina en una propuesta comercial y una galería de assets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2926080" cy="3113532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7099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7512" y="2011680"/>
            <a:ext cx="26517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20116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17320" y="20116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67512" y="2377440"/>
            <a:ext cx="26517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237744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417320" y="23774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Vision Neue Klasse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" y="2743200"/>
            <a:ext cx="26517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" y="274320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743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Profesionales eco-conscious 30-45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67512" y="3108960"/>
            <a:ext cx="26517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310896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17320" y="31089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hero + Instagram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67512" y="3474720"/>
            <a:ext cx="26517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417320" y="34747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Premium, innovador, emocional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67512" y="3840480"/>
            <a:ext cx="26517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" y="38404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417320" y="3840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REALCARMODEL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593592" y="1572768"/>
            <a:ext cx="2450592" cy="1483614"/>
          </a:xfrm>
          <a:prstGeom prst="rect">
            <a:avLst/>
          </a:prstGeom>
          <a:solidFill>
            <a:srgbClr val="DFF4F1"/>
          </a:solidFill>
          <a:ln w="9525">
            <a:solidFill>
              <a:srgbClr val="A7D9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58184" y="1709928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del LLM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58184" y="1993392"/>
            <a:ext cx="2176272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plan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copy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prompt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90488" y="1572768"/>
            <a:ext cx="2450592" cy="1483614"/>
          </a:xfrm>
          <a:prstGeom prst="rect">
            <a:avLst/>
          </a:prstGeom>
          <a:solidFill>
            <a:srgbClr val="E8F0FF"/>
          </a:solidFill>
          <a:ln w="9525">
            <a:solidFill>
              <a:srgbClr val="BED1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1709928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generados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1993392"/>
            <a:ext cx="2176272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hero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feed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story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Showroom poster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Billboard y email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593592" y="3202686"/>
            <a:ext cx="2450592" cy="1483614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58184" y="3339846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58184" y="3623310"/>
            <a:ext cx="2176272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para ejecutar por etapas: entrenamiento LLM, entrenamiento visual, generación de imágenes y comparaciones.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90488" y="3202686"/>
            <a:ext cx="2450592" cy="1483614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3339846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Reproducibilidad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55080" y="3623310"/>
            <a:ext cx="2176272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Seeds, rutas, metadata, prompts, dimensiones y latencia quedan guardados en `outputs/evaluation`.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4814316"/>
            <a:ext cx="8138160" cy="9144"/>
          </a:xfrm>
          <a:prstGeom prst="rect">
            <a:avLst/>
          </a:prstGeom>
          <a:solidFill>
            <a:srgbClr val="C0C8D0"/>
          </a:solidFill>
          <a:ln w="12700">
            <a:solidFill>
              <a:srgbClr val="C0C8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C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integrada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0924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C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9377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E IMPACTO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Medimos calidad técnica y dejamos trazable cómo calcular ROI con datos reales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9646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64208"/>
            <a:ext cx="818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084832"/>
            <a:ext cx="8183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Validez y cobertura de campos del LLM fine-tuned.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04188" y="1572768"/>
            <a:ext cx="9646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95628" y="1664208"/>
            <a:ext cx="818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95628" y="2084832"/>
            <a:ext cx="8183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simple contra salida esperada.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05456" y="1572768"/>
            <a:ext cx="9646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1664208"/>
            <a:ext cx="818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96896" y="2084832"/>
            <a:ext cx="8183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vs fine-tuned para texto e imagen.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06724" y="1572768"/>
            <a:ext cx="9646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8164" y="1664208"/>
            <a:ext cx="818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98164" y="2084832"/>
            <a:ext cx="8183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por respuesta y por asset.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3968496" cy="1979676"/>
          </a:xfrm>
          <a:prstGeom prst="rect">
            <a:avLst/>
          </a:prstGeom>
          <a:solidFill>
            <a:srgbClr val="FFF3D6"/>
          </a:solidFill>
          <a:ln w="9525">
            <a:solidFill>
              <a:srgbClr val="EFD1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816352"/>
            <a:ext cx="3730752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4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métricas salen del notebook. El ROI no se afirma como resultado real: se presenta como metodología para estimarlo cuando tengamos tiempos, costos y volumen operativo medidos.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72584" y="1572768"/>
            <a:ext cx="3968496" cy="3113532"/>
          </a:xfrm>
          <a:prstGeom prst="rect">
            <a:avLst/>
          </a:prstGeom>
          <a:solidFill>
            <a:srgbClr val="111827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1719072"/>
            <a:ext cx="3694176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reales necesarios: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horas creativas antes vs despues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horas comerciales antes vs despues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campanas/propuestas por mes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costo hora del equipo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costo operativo IA mensual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ahorro = (h_creativas * costo_creativo * campanas)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+ (h_comerciales * costo_comercial * propuestas)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 = (ahorro - costo_IA) / costo_IA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 hipotetico: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(12*6*35 + 2*40*25 - 300) / 300 = 14.07x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4814316"/>
            <a:ext cx="8138160" cy="9144"/>
          </a:xfrm>
          <a:prstGeom prst="rect">
            <a:avLst/>
          </a:prstGeom>
          <a:solidFill>
            <a:srgbClr val="C0C8D0"/>
          </a:solidFill>
          <a:ln w="12700">
            <a:solidFill>
              <a:srgbClr val="C0C8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C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comparativo y valor de negocio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924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C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9377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prototipo demuestra un flujo generativo multimodal extensible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1924812" cy="3113532"/>
          </a:xfrm>
          <a:prstGeom prst="rect">
            <a:avLst/>
          </a:prstGeom>
          <a:solidFill>
            <a:srgbClr val="E8F7ED"/>
          </a:solidFill>
          <a:ln w="9525">
            <a:solidFill>
              <a:srgbClr val="B6E1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737360"/>
            <a:ext cx="1650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7512" y="2066544"/>
            <a:ext cx="1650492" cy="251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especializa la capa comercial y el LoRA visual mantiene consistencia del auto en múltiples placements.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74036" y="1572768"/>
            <a:ext cx="1924812" cy="3113532"/>
          </a:xfrm>
          <a:prstGeom prst="rect">
            <a:avLst/>
          </a:prstGeom>
          <a:solidFill>
            <a:srgbClr val="E8F0FF"/>
          </a:solidFill>
          <a:ln w="9525">
            <a:solidFill>
              <a:srgbClr val="BED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38628" y="1737360"/>
            <a:ext cx="1650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38628" y="2066544"/>
            <a:ext cx="1650492" cy="251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hiperparámetros: learning rate, LoRA rank/alpha, steps, guidance scale y resolución.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45152" y="1572768"/>
            <a:ext cx="1924812" cy="3113532"/>
          </a:xfrm>
          <a:prstGeom prst="rect">
            <a:avLst/>
          </a:prstGeom>
          <a:solidFill>
            <a:srgbClr val="FFF3D6"/>
          </a:solidFill>
          <a:ln w="9525">
            <a:solidFill>
              <a:srgbClr val="EFD1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737360"/>
            <a:ext cx="1650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9744" y="2066544"/>
            <a:ext cx="1650492" cy="251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evaluación humana con rúbrica: identidad del auto, calidad publicitaria y alineación al brief.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16268" y="1572768"/>
            <a:ext cx="1924812" cy="3113532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80860" y="1737360"/>
            <a:ext cx="1650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80860" y="2066544"/>
            <a:ext cx="1650492" cy="251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a marcas reales, flujos multi-idioma y exportación automática a formatos de campaña.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814316"/>
            <a:ext cx="8138160" cy="9144"/>
          </a:xfrm>
          <a:prstGeom prst="rect">
            <a:avLst/>
          </a:prstGeom>
          <a:solidFill>
            <a:srgbClr val="C0C8D0"/>
          </a:solidFill>
          <a:ln w="12700">
            <a:solidFill>
              <a:srgbClr val="C0C8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C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mejoras futuras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0924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C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9377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807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 y siguientes pasos</a:t>
            </a:r>
            <a:endParaRPr lang="es-PE" sz="2400" dirty="0"/>
          </a:p>
        </p:txBody>
      </p:sp>
      <p:sp>
        <p:nvSpPr>
          <p:cNvPr id="10" name="Shape 8"/>
          <p:cNvSpPr/>
          <p:nvPr/>
        </p:nvSpPr>
        <p:spPr>
          <a:xfrm>
            <a:off x="446007" y="1290356"/>
            <a:ext cx="8028431" cy="903975"/>
          </a:xfrm>
          <a:prstGeom prst="rect">
            <a:avLst/>
          </a:prstGeom>
          <a:solidFill>
            <a:srgbClr val="FFF3D6"/>
          </a:solidFill>
          <a:ln w="9525">
            <a:solidFill>
              <a:srgbClr val="EFD18A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12" name="Text 10"/>
          <p:cNvSpPr/>
          <p:nvPr/>
        </p:nvSpPr>
        <p:spPr>
          <a:xfrm>
            <a:off x="446008" y="1290355"/>
            <a:ext cx="8028430" cy="90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050" b="1">
                <a:latin typeface="Calibri" pitchFamily="34" charset="0"/>
                <a:ea typeface="Calibri" pitchFamily="34" charset="-122"/>
                <a:cs typeface="Calibri" pitchFamily="34" charset="-120"/>
              </a:rPr>
              <a:t>El concepto general se ha logrado capturar. Se puede ver cómo el modelo ha aprendido a recrear las plantillas de publicidad.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050" b="1">
                <a:latin typeface="Calibri" pitchFamily="34" charset="0"/>
                <a:ea typeface="Calibri" pitchFamily="34" charset="-122"/>
                <a:cs typeface="Calibri" pitchFamily="34" charset="-120"/>
              </a:rPr>
              <a:t>Nos toca mejorar la parte de la generación de texto, para esto se pueden dejar espacios en blanco para colocar números telefónicos u otra info para no cargar a el modelo.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050" b="1">
                <a:latin typeface="Calibri" pitchFamily="34" charset="0"/>
                <a:ea typeface="Calibri" pitchFamily="34" charset="-122"/>
                <a:cs typeface="Calibri" pitchFamily="34" charset="-120"/>
              </a:rPr>
              <a:t>Necesario entrenar con más datos para mejorar la parte del logo de Toyota, los modelos de vehículos y el logo de la concesionaría.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050" b="1">
                <a:latin typeface="Calibri" pitchFamily="34" charset="0"/>
                <a:ea typeface="Calibri" pitchFamily="34" charset="-122"/>
                <a:cs typeface="Calibri" pitchFamily="34" charset="-120"/>
              </a:rPr>
              <a:t>Igualmente con el tiempo y cantidad de datos usados (65 imágenes de entrenamiento) se considera un buen paso hacía una buena dirección.</a:t>
            </a:r>
          </a:p>
        </p:txBody>
      </p:sp>
      <p:sp>
        <p:nvSpPr>
          <p:cNvPr id="16" name="Shape 14"/>
          <p:cNvSpPr/>
          <p:nvPr/>
        </p:nvSpPr>
        <p:spPr>
          <a:xfrm>
            <a:off x="502920" y="4814316"/>
            <a:ext cx="8138160" cy="9144"/>
          </a:xfrm>
          <a:prstGeom prst="rect">
            <a:avLst/>
          </a:prstGeom>
          <a:solidFill>
            <a:srgbClr val="C0C8D0"/>
          </a:solidFill>
          <a:ln w="12700">
            <a:solidFill>
              <a:srgbClr val="C0C8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C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mejoras futuras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092440" y="48508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6C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E1A1F64-ABFE-4610-A996-EDB71D6C2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1578" y="2289376"/>
            <a:ext cx="2372222" cy="236662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9DDD48EE-36C2-4FCA-A5F5-3C827C4BF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2780" y="2739059"/>
            <a:ext cx="3020552" cy="1672921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8EF1E9B8-AEB8-47CB-9FD0-E545242367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007" y="2305156"/>
            <a:ext cx="2770541" cy="2488791"/>
          </a:xfrm>
          <a:prstGeom prst="rect">
            <a:avLst/>
          </a:prstGeom>
        </p:spPr>
      </p:pic>
      <p:sp>
        <p:nvSpPr>
          <p:cNvPr id="27" name="Shape 2">
            <a:extLst>
              <a:ext uri="{FF2B5EF4-FFF2-40B4-BE49-F238E27FC236}">
                <a16:creationId xmlns:a16="http://schemas.microsoft.com/office/drawing/2014/main" id="{64F9C8F6-D4FF-441B-979B-F0421107DB96}"/>
              </a:ext>
            </a:extLst>
          </p:cNvPr>
          <p:cNvSpPr/>
          <p:nvPr/>
        </p:nvSpPr>
        <p:spPr>
          <a:xfrm>
            <a:off x="572770" y="4676140"/>
            <a:ext cx="1021080" cy="219202"/>
          </a:xfrm>
          <a:prstGeom prst="rect">
            <a:avLst/>
          </a:prstGeom>
          <a:solidFill>
            <a:srgbClr val="E8F7ED"/>
          </a:solidFill>
          <a:ln w="9525">
            <a:solidFill>
              <a:srgbClr val="B6E1C3"/>
            </a:solidFill>
            <a:prstDash val="solid"/>
          </a:ln>
        </p:spPr>
        <p:txBody>
          <a:bodyPr/>
          <a:lstStyle/>
          <a:p>
            <a:pPr algn="ctr"/>
            <a:r>
              <a:rPr lang="es-MX" sz="800" b="1" dirty="0"/>
              <a:t>Modelo base</a:t>
            </a:r>
            <a:endParaRPr lang="es-PE" sz="800" b="1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2E627653-FD41-4D31-AF9F-09E2D444BB26}"/>
              </a:ext>
            </a:extLst>
          </p:cNvPr>
          <p:cNvSpPr/>
          <p:nvPr/>
        </p:nvSpPr>
        <p:spPr>
          <a:xfrm>
            <a:off x="1959248" y="4676140"/>
            <a:ext cx="1021080" cy="210058"/>
          </a:xfrm>
          <a:prstGeom prst="rect">
            <a:avLst/>
          </a:prstGeom>
          <a:solidFill>
            <a:srgbClr val="E8F7ED"/>
          </a:solidFill>
          <a:ln w="9525">
            <a:solidFill>
              <a:srgbClr val="B6E1C3"/>
            </a:solidFill>
            <a:prstDash val="solid"/>
          </a:ln>
        </p:spPr>
        <p:txBody>
          <a:bodyPr/>
          <a:lstStyle/>
          <a:p>
            <a:pPr algn="ctr"/>
            <a:r>
              <a:rPr lang="es-MX" sz="800" b="1" dirty="0"/>
              <a:t>Modelo lora </a:t>
            </a:r>
            <a:r>
              <a:rPr lang="es-MX" sz="800" b="1" dirty="0" err="1"/>
              <a:t>tuned</a:t>
            </a:r>
            <a:endParaRPr lang="es-PE" sz="800" b="1" dirty="0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56E41CEA-86F1-4949-81A9-B678AA38B896}"/>
              </a:ext>
            </a:extLst>
          </p:cNvPr>
          <p:cNvSpPr/>
          <p:nvPr/>
        </p:nvSpPr>
        <p:spPr>
          <a:xfrm>
            <a:off x="4111898" y="4525102"/>
            <a:ext cx="1021080" cy="210058"/>
          </a:xfrm>
          <a:prstGeom prst="rect">
            <a:avLst/>
          </a:prstGeom>
          <a:solidFill>
            <a:srgbClr val="E8F7ED"/>
          </a:solidFill>
          <a:ln w="9525">
            <a:solidFill>
              <a:srgbClr val="B6E1C3"/>
            </a:solidFill>
            <a:prstDash val="solid"/>
          </a:ln>
        </p:spPr>
        <p:txBody>
          <a:bodyPr/>
          <a:lstStyle/>
          <a:p>
            <a:pPr algn="ctr"/>
            <a:r>
              <a:rPr lang="es-MX" sz="800" b="1" dirty="0"/>
              <a:t>Modelo lora </a:t>
            </a:r>
            <a:r>
              <a:rPr lang="es-MX" sz="800" b="1" dirty="0" err="1"/>
              <a:t>tuned</a:t>
            </a:r>
            <a:endParaRPr lang="es-PE" sz="800" b="1" dirty="0"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D326BB43-208E-4595-86A3-715C93DABB29}"/>
              </a:ext>
            </a:extLst>
          </p:cNvPr>
          <p:cNvSpPr/>
          <p:nvPr/>
        </p:nvSpPr>
        <p:spPr>
          <a:xfrm>
            <a:off x="7088509" y="4455343"/>
            <a:ext cx="1021080" cy="210058"/>
          </a:xfrm>
          <a:prstGeom prst="rect">
            <a:avLst/>
          </a:prstGeom>
          <a:solidFill>
            <a:srgbClr val="E8F7ED"/>
          </a:solidFill>
          <a:ln w="9525">
            <a:solidFill>
              <a:srgbClr val="B6E1C3"/>
            </a:solidFill>
            <a:prstDash val="solid"/>
          </a:ln>
        </p:spPr>
        <p:txBody>
          <a:bodyPr/>
          <a:lstStyle/>
          <a:p>
            <a:pPr algn="ctr"/>
            <a:r>
              <a:rPr lang="es-MX" sz="800" b="1" dirty="0"/>
              <a:t>Modelo lora </a:t>
            </a:r>
            <a:r>
              <a:rPr lang="es-MX" sz="800" b="1" dirty="0" err="1"/>
              <a:t>tuned</a:t>
            </a:r>
            <a:endParaRPr lang="es-PE" sz="800" b="1" dirty="0"/>
          </a:p>
        </p:txBody>
      </p:sp>
    </p:spTree>
    <p:extLst>
      <p:ext uri="{BB962C8B-B14F-4D97-AF65-F5344CB8AC3E}">
        <p14:creationId xmlns:p14="http://schemas.microsoft.com/office/powerpoint/2010/main" val="1208877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1253</Words>
  <Application>Microsoft Office PowerPoint</Application>
  <PresentationFormat>Presentación en pantalla (16:9)</PresentationFormat>
  <Paragraphs>233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Automotive Marketing Content LoRA Studio</dc:title>
  <dc:subject>PptxGenJS Presentation</dc:subject>
  <dc:creator>PptxGenJS</dc:creator>
  <cp:lastModifiedBy>Pedro Ignacio Montenegro Montori</cp:lastModifiedBy>
  <cp:revision>8</cp:revision>
  <dcterms:created xsi:type="dcterms:W3CDTF">2026-06-11T00:23:21Z</dcterms:created>
  <dcterms:modified xsi:type="dcterms:W3CDTF">2026-06-11T02:48:20Z</dcterms:modified>
</cp:coreProperties>
</file>